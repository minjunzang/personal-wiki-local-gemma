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68B8E"/>
          </a:solidFill>
          <a:ln>
            <a:solidFill>
              <a:srgbClr val="26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280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268B8E"/>
                </a:solidFill>
                <a:latin typeface="Aptos"/>
              </a:rPr>
              <a:t>DTCS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420624"/>
            <a:ext cx="5029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142134"/>
                </a:solidFill>
                <a:latin typeface="Aptos"/>
              </a:rPr>
              <a:t>Digital Twin for Chemical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96112"/>
            <a:ext cx="5212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A7785"/>
                </a:solidFill>
                <a:latin typeface="Aptos"/>
              </a:rPr>
              <a:t>Lean Transfer • Customer Discovery •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384048"/>
            <a:ext cx="2880360" cy="36576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tcs_portrai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539496"/>
            <a:ext cx="2578608" cy="3328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15400" y="4160520"/>
            <a:ext cx="2560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42134"/>
                </a:solidFill>
                <a:latin typeface="Aptos"/>
              </a:rPr>
              <a:t>Minjun Zang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46227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6A7785"/>
                </a:solidFill>
                <a:latin typeface="Aptos"/>
              </a:rPr>
              <a:t>Customer discovery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07592"/>
            <a:ext cx="1417320" cy="749808"/>
          </a:xfrm>
          <a:prstGeom prst="roundRect">
            <a:avLst>
              <a:gd name="adj" fmla="val 12000"/>
            </a:avLst>
          </a:prstGeom>
          <a:solidFill>
            <a:srgbClr val="E4EEF8"/>
          </a:solidFill>
          <a:ln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14173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42134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46504"/>
            <a:ext cx="1417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0" i="0">
                <a:solidFill>
                  <a:srgbClr val="6A7785"/>
                </a:solidFill>
                <a:latin typeface="Aptos"/>
              </a:rPr>
              <a:t>new interviews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1307592"/>
            <a:ext cx="1417320" cy="749808"/>
          </a:xfrm>
          <a:prstGeom prst="roundRect">
            <a:avLst>
              <a:gd name="adj" fmla="val 12000"/>
            </a:avLst>
          </a:prstGeom>
          <a:solidFill>
            <a:srgbClr val="E3F4F2"/>
          </a:solidFill>
          <a:ln>
            <a:solidFill>
              <a:srgbClr val="E3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389888"/>
            <a:ext cx="14173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42134"/>
                </a:solidFill>
                <a:latin typeface="Apto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746504"/>
            <a:ext cx="1417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0" i="0">
                <a:solidFill>
                  <a:srgbClr val="6A7785"/>
                </a:solidFill>
                <a:latin typeface="Aptos"/>
              </a:rPr>
              <a:t>total interviews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359152"/>
            <a:ext cx="2011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268B8E"/>
                </a:solidFill>
                <a:latin typeface="Aptos"/>
              </a:rPr>
              <a:t>BUSINESS FOCUS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97480"/>
            <a:ext cx="7589520" cy="201168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916936"/>
            <a:ext cx="7132320" cy="1627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242B32"/>
                </a:solidFill>
                <a:latin typeface="Aptos"/>
              </a:rPr>
              <a:t>Who: Chemistry &amp; materials R&amp;D professionals—especially materials/design engineers, raw-material/application scientists, and scientists working with chemical reactions.
Product: DTCS connects computational chemistry, spectroscopy simulations, experimental data, and AI optimization to help interpret spectra and infer reaction mechanisms.
Why buy: Faster interpretation and mechanistic insight can reduce experimental iteration, lab time, and use of scarce characterization resources.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47488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268B8E"/>
                </a:solidFill>
                <a:latin typeface="Aptos"/>
              </a:rPr>
              <a:t>BUSINESS VISUAL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376672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3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504688"/>
            <a:ext cx="187451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1" i="0">
                <a:solidFill>
                  <a:srgbClr val="2360A0"/>
                </a:solidFill>
                <a:latin typeface="Aptos"/>
              </a:rPr>
              <a:t>EXPERIMENT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742432"/>
            <a:ext cx="187451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6A7785"/>
                </a:solidFill>
                <a:latin typeface="Aptos"/>
              </a:rPr>
              <a:t>Measured spectra
+ reaction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5623560"/>
            <a:ext cx="365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6A7785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5376672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6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5504688"/>
            <a:ext cx="187451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1" i="0">
                <a:solidFill>
                  <a:srgbClr val="268B8E"/>
                </a:solidFill>
                <a:latin typeface="Aptos"/>
              </a:rPr>
              <a:t>DTCS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742432"/>
            <a:ext cx="187451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6A7785"/>
                </a:solidFill>
                <a:latin typeface="Aptos"/>
              </a:rPr>
              <a:t>Digital twin
+ AI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5623560"/>
            <a:ext cx="365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6A7785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5376672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41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59" y="5504688"/>
            <a:ext cx="187451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1" i="0">
                <a:solidFill>
                  <a:srgbClr val="41855B"/>
                </a:solidFill>
                <a:latin typeface="Aptos"/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59" y="5742432"/>
            <a:ext cx="1874519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6A7785"/>
                </a:solidFill>
                <a:latin typeface="Aptos"/>
              </a:rPr>
              <a:t>Mechanism
+ next experiment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349240"/>
            <a:ext cx="324612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0" i="1">
                <a:solidFill>
                  <a:srgbClr val="6A7785"/>
                </a:solidFill>
                <a:latin typeface="Aptos"/>
              </a:rPr>
              <a:t>Current hypothesis — to be validated through 5–10 customer interviews.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47104"/>
            <a:ext cx="4023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6A7785"/>
                </a:solidFill>
                <a:latin typeface="Aptos"/>
              </a:rPr>
              <a:t>DTCS • Lean Transfer • Customer Discovery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547104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A7785"/>
                </a:solidFill>
                <a:latin typeface="Apto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6070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42134"/>
                </a:solidFill>
                <a:latin typeface="Aptos"/>
              </a:rPr>
              <a:t>Expanded Business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A7785"/>
                </a:solidFill>
                <a:latin typeface="Aptos"/>
              </a:rPr>
              <a:t>Three customer hypotheses to test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93192"/>
            <a:ext cx="411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6A7785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53312"/>
            <a:ext cx="3493008" cy="4343400"/>
          </a:xfrm>
          <a:prstGeom prst="roundRect">
            <a:avLst>
              <a:gd name="adj" fmla="val 12000"/>
            </a:avLst>
          </a:prstGeom>
          <a:solidFill>
            <a:srgbClr val="E4EEF8"/>
          </a:solidFill>
          <a:ln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2360A0"/>
          </a:solidFill>
          <a:ln>
            <a:solidFill>
              <a:srgbClr val="23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8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545336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4"/>
                </a:solidFill>
                <a:latin typeface="Aptos"/>
              </a:rPr>
              <a:t>Big Tech / Established R&amp;D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48840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42B32"/>
                </a:solidFill>
                <a:latin typeface="Aptos"/>
              </a:rPr>
              <a:t>Materials &amp; design engineers
Plastic • coatings • adhesives • other reaction-driven materials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35808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360A0"/>
                </a:solidFill>
                <a:latin typeface="Aptos"/>
              </a:rPr>
              <a:t>Pain-point hypothesis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3401568"/>
            <a:ext cx="299923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242B32"/>
                </a:solidFill>
                <a:latin typeface="Aptos"/>
              </a:rPr>
              <a:t>• Long experiment / characterization cycles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3977640"/>
            <a:ext cx="299923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242B32"/>
                </a:solidFill>
                <a:latin typeface="Aptos"/>
              </a:rPr>
              <a:t>• High cost of lab time &amp; instrumentation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" y="4553712"/>
            <a:ext cx="299923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4515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242B32"/>
                </a:solidFill>
                <a:latin typeface="Aptos"/>
              </a:rPr>
              <a:t>• Need stronger theory ↔ experiment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285232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 i="1">
                <a:solidFill>
                  <a:srgbClr val="6A7785"/>
                </a:solidFill>
                <a:latin typeface="Aptos"/>
              </a:rPr>
              <a:t>Interview goal: validate pain severity + workflow + willingness to pay.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353312"/>
            <a:ext cx="3493008" cy="4343400"/>
          </a:xfrm>
          <a:prstGeom prst="roundRect">
            <a:avLst>
              <a:gd name="adj" fmla="val 12000"/>
            </a:avLst>
          </a:prstGeom>
          <a:solidFill>
            <a:srgbClr val="E3F4F2"/>
          </a:solidFill>
          <a:ln>
            <a:solidFill>
              <a:srgbClr val="E3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0" y="1572768"/>
            <a:ext cx="457200" cy="457200"/>
          </a:xfrm>
          <a:prstGeom prst="ellipse">
            <a:avLst/>
          </a:prstGeom>
          <a:solidFill>
            <a:srgbClr val="268B8E"/>
          </a:solidFill>
          <a:ln>
            <a:solidFill>
              <a:srgbClr val="26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664208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1545336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4"/>
                </a:solidFill>
                <a:latin typeface="Aptos"/>
              </a:rPr>
              <a:t>Resource-Constrained Startups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148840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42B32"/>
                </a:solidFill>
                <a:latin typeface="Aptos"/>
              </a:rPr>
              <a:t>Small chemistry/materials teams
Limited people, budget, and characterization capacity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035808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68B8E"/>
                </a:solidFill>
                <a:latin typeface="Aptos"/>
              </a:rPr>
              <a:t>Pain-point hypothesis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401568"/>
            <a:ext cx="299923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3493008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242B32"/>
                </a:solidFill>
                <a:latin typeface="Aptos"/>
              </a:rPr>
              <a:t>• Too few specialists to interpret every dataset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3977640"/>
            <a:ext cx="299923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4069080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242B32"/>
                </a:solidFill>
                <a:latin typeface="Aptos"/>
              </a:rPr>
              <a:t>• Expensive external characterization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4553712"/>
            <a:ext cx="299923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464515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242B32"/>
                </a:solidFill>
                <a:latin typeface="Aptos"/>
              </a:rPr>
              <a:t>• Need to move from data → decision faster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285232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 i="1">
                <a:solidFill>
                  <a:srgbClr val="6A7785"/>
                </a:solidFill>
                <a:latin typeface="Aptos"/>
              </a:rPr>
              <a:t>Interview goal: validate pain severity + workflow + willingness to pay.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1" y="1353312"/>
            <a:ext cx="3493008" cy="4343400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solidFill>
              <a:srgbClr val="FAF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94191" y="1572768"/>
            <a:ext cx="457200" cy="457200"/>
          </a:xfrm>
          <a:prstGeom prst="ellipse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1" y="1664208"/>
            <a:ext cx="457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19" y="1545336"/>
            <a:ext cx="25146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2134"/>
                </a:solidFill>
                <a:latin typeface="Aptos"/>
              </a:rPr>
              <a:t>Raw-Material Vendors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1" y="2148840"/>
            <a:ext cx="30175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42B32"/>
                </a:solidFill>
                <a:latin typeface="Aptos"/>
              </a:rPr>
              <a:t>Technical / application / R&amp;D teams
Suppliers of specialty chemical or material inputs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1" y="3035808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DA8534"/>
                </a:solidFill>
                <a:latin typeface="Aptos"/>
              </a:rPr>
              <a:t>Pain-point hypothesis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39911" y="3401568"/>
            <a:ext cx="299923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58784" y="3493008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242B32"/>
                </a:solidFill>
                <a:latin typeface="Aptos"/>
              </a:rPr>
              <a:t>• Need evidence behind material performance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39911" y="3977640"/>
            <a:ext cx="299923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58784" y="4069080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242B32"/>
                </a:solidFill>
                <a:latin typeface="Aptos"/>
              </a:rPr>
              <a:t>• Customer-specific development can be slow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39911" y="4553712"/>
            <a:ext cx="299923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58784" y="464515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242B32"/>
                </a:solidFill>
                <a:latin typeface="Aptos"/>
              </a:rPr>
              <a:t>• Potential to differentiate with mechanistic 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1" y="5285232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 i="1">
                <a:solidFill>
                  <a:srgbClr val="6A7785"/>
                </a:solidFill>
                <a:latin typeface="Aptos"/>
              </a:rPr>
              <a:t>Interview goal: validate pain severity + workflow + willingness to pay.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016752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68B8E"/>
                </a:solidFill>
                <a:latin typeface="Aptos"/>
              </a:rPr>
              <a:t>Key discovery question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89320"/>
            <a:ext cx="89611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42134"/>
                </a:solidFill>
                <a:latin typeface="Aptos"/>
              </a:rPr>
              <a:t>Who feels the pain most acutely—and who controls the budget to solve it?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47104"/>
            <a:ext cx="4023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6A7785"/>
                </a:solidFill>
                <a:latin typeface="Aptos"/>
              </a:rPr>
              <a:t>DTCS • Lean Transfer • Customer Discovery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6547104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A7785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6070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42134"/>
                </a:solidFill>
                <a:latin typeface="Aptos"/>
              </a:rPr>
              <a:t>Skinny Business Model Canvas — Initial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A7785"/>
                </a:solidFill>
                <a:latin typeface="Aptos"/>
              </a:rPr>
              <a:t>Only the two blocks required for this first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93192"/>
            <a:ext cx="411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6A7785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5440680" cy="4480560"/>
          </a:xfrm>
          <a:prstGeom prst="roundRect">
            <a:avLst>
              <a:gd name="adj" fmla="val 12000"/>
            </a:avLst>
          </a:prstGeom>
          <a:solidFill>
            <a:srgbClr val="E3F4F2"/>
          </a:solidFill>
          <a:ln>
            <a:solidFill>
              <a:srgbClr val="E3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68B8E"/>
                </a:solidFill>
                <a:latin typeface="Aptos"/>
              </a:rPr>
              <a:t>VALUE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52628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142134"/>
                </a:solidFill>
                <a:latin typeface="Aptos"/>
              </a:rPr>
              <a:t>Turn experimental spectra into
faster chemical understanding.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3063240"/>
            <a:ext cx="470916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136392"/>
            <a:ext cx="4434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42B32"/>
                </a:solidFill>
                <a:latin typeface="Aptos"/>
              </a:rPr>
              <a:t>• Connect computational chemistry with real-time experimental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593592"/>
            <a:ext cx="470916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666744"/>
            <a:ext cx="4434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42B32"/>
                </a:solidFill>
                <a:latin typeface="Aptos"/>
              </a:rPr>
              <a:t>• Simulate / predict spectra and infer reaction mechanisms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4123944"/>
            <a:ext cx="470916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197096"/>
            <a:ext cx="4434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42B32"/>
                </a:solidFill>
                <a:latin typeface="Aptos"/>
              </a:rPr>
              <a:t>• Use AI optimization to guide the next experiment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654296"/>
            <a:ext cx="470916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727448"/>
            <a:ext cx="4434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42B32"/>
                </a:solidFill>
                <a:latin typeface="Aptos"/>
              </a:rPr>
              <a:t>• Potential outcome: less trial-and-error and better use of characterization resources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353312"/>
            <a:ext cx="5394960" cy="4480560"/>
          </a:xfrm>
          <a:prstGeom prst="roundRect">
            <a:avLst>
              <a:gd name="adj" fmla="val 12000"/>
            </a:avLst>
          </a:prstGeom>
          <a:solidFill>
            <a:srgbClr val="E4EEF8"/>
          </a:solidFill>
          <a:ln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627632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360A0"/>
                </a:solidFill>
                <a:latin typeface="Aptos"/>
              </a:rPr>
              <a:t>CUSTOMER SEGMENTS</a:t>
            </a:r>
          </a:p>
        </p:txBody>
      </p:sp>
      <p:sp>
        <p:nvSpPr>
          <p:cNvPr id="18" name="Oval 17"/>
          <p:cNvSpPr/>
          <p:nvPr/>
        </p:nvSpPr>
        <p:spPr>
          <a:xfrm>
            <a:off x="6473952" y="2121408"/>
            <a:ext cx="411480" cy="411480"/>
          </a:xfrm>
          <a:prstGeom prst="ellipse">
            <a:avLst/>
          </a:prstGeom>
          <a:solidFill>
            <a:srgbClr val="2360A0"/>
          </a:solidFill>
          <a:ln>
            <a:solidFill>
              <a:srgbClr val="23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212848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103120"/>
            <a:ext cx="397763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42134"/>
                </a:solidFill>
                <a:latin typeface="Aptos"/>
              </a:rPr>
              <a:t>Established / Big Tech R&amp;D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441448"/>
            <a:ext cx="3977639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242B32"/>
                </a:solidFill>
                <a:latin typeface="Aptos"/>
              </a:rPr>
              <a:t>Materials &amp; design engineers; chemistry-heavy workflows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3172968"/>
            <a:ext cx="411480" cy="411480"/>
          </a:xfrm>
          <a:prstGeom prst="ellipse">
            <a:avLst/>
          </a:prstGeom>
          <a:solidFill>
            <a:srgbClr val="2360A0"/>
          </a:solidFill>
          <a:ln>
            <a:solidFill>
              <a:srgbClr val="23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264408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154679"/>
            <a:ext cx="397763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42134"/>
                </a:solidFill>
                <a:latin typeface="Aptos"/>
              </a:rPr>
              <a:t>Resource-constrained startups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493008"/>
            <a:ext cx="3977639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242B32"/>
                </a:solidFill>
                <a:latin typeface="Aptos"/>
              </a:rPr>
              <a:t>Small teams with limited people, budget, and characterization access</a:t>
            </a:r>
          </a:p>
        </p:txBody>
      </p:sp>
      <p:sp>
        <p:nvSpPr>
          <p:cNvPr id="26" name="Oval 25"/>
          <p:cNvSpPr/>
          <p:nvPr/>
        </p:nvSpPr>
        <p:spPr>
          <a:xfrm>
            <a:off x="6473952" y="4224527"/>
            <a:ext cx="411480" cy="411480"/>
          </a:xfrm>
          <a:prstGeom prst="ellipse">
            <a:avLst/>
          </a:prstGeom>
          <a:solidFill>
            <a:srgbClr val="2360A0"/>
          </a:solidFill>
          <a:ln>
            <a:solidFill>
              <a:srgbClr val="23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315967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206240"/>
            <a:ext cx="397763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42134"/>
                </a:solidFill>
                <a:latin typeface="Aptos"/>
              </a:rPr>
              <a:t>Raw-material vendors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44567"/>
            <a:ext cx="3977639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0" i="0">
                <a:solidFill>
                  <a:srgbClr val="242B32"/>
                </a:solidFill>
                <a:latin typeface="Aptos"/>
              </a:rPr>
              <a:t>Technical / application / R&amp;D teams supporting material adoption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5285232"/>
            <a:ext cx="470916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367528"/>
            <a:ext cx="44805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9" b="0" i="1">
                <a:solidFill>
                  <a:srgbClr val="6A7785"/>
                </a:solidFill>
                <a:latin typeface="Aptos"/>
              </a:rPr>
              <a:t>Early-adopter hypothesis: teams with high experiment cost + limited interpretation bandwidth.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47104"/>
            <a:ext cx="4023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6A7785"/>
                </a:solidFill>
                <a:latin typeface="Aptos"/>
              </a:rPr>
              <a:t>DTCS • Lean Transfer • Customer Discovery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47104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A7785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6070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42134"/>
                </a:solidFill>
                <a:latin typeface="Aptos"/>
              </a:rPr>
              <a:t>Iteration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A7785"/>
                </a:solidFill>
                <a:latin typeface="Aptos"/>
              </a:rPr>
              <a:t>What We Thought → What We Did → What We Learned → What We'll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93192"/>
            <a:ext cx="411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6A7785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21808" cy="1993392"/>
          </a:xfrm>
          <a:prstGeom prst="roundRect">
            <a:avLst>
              <a:gd name="adj" fmla="val 12000"/>
            </a:avLst>
          </a:prstGeom>
          <a:solidFill>
            <a:srgbClr val="E4EEF8"/>
          </a:solidFill>
          <a:ln>
            <a:solidFill>
              <a:srgbClr val="E4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1993392"/>
          </a:xfrm>
          <a:prstGeom prst="rect">
            <a:avLst/>
          </a:prstGeom>
          <a:solidFill>
            <a:srgbClr val="2360A0"/>
          </a:solidFill>
          <a:ln>
            <a:solidFill>
              <a:srgbClr val="23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36776"/>
            <a:ext cx="4480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360A0"/>
                </a:solidFill>
                <a:latin typeface="Aptos"/>
              </a:rPr>
              <a:t>WHAT WE 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4617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42B32"/>
                </a:solidFill>
                <a:latin typeface="Aptos"/>
              </a:rPr>
              <a:t>• Chemical characterization is slowed by weak real-time theory ↔ experiment feedback
• Users may value faster mechanism interpretation
• Pain may be strongest where experiments and characterization are expensive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321808" cy="1993392"/>
          </a:xfrm>
          <a:prstGeom prst="roundRect">
            <a:avLst>
              <a:gd name="adj" fmla="val 12000"/>
            </a:avLst>
          </a:prstGeom>
          <a:solidFill>
            <a:srgbClr val="E3F4F2"/>
          </a:solidFill>
          <a:ln>
            <a:solidFill>
              <a:srgbClr val="E3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417320"/>
            <a:ext cx="73152" cy="1993392"/>
          </a:xfrm>
          <a:prstGeom prst="rect">
            <a:avLst/>
          </a:prstGeom>
          <a:solidFill>
            <a:srgbClr val="268B8E"/>
          </a:solidFill>
          <a:ln>
            <a:solidFill>
              <a:srgbClr val="26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636776"/>
            <a:ext cx="4480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68B8E"/>
                </a:solidFill>
                <a:latin typeface="Aptos"/>
              </a:rPr>
              <a:t>WHAT WE DID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039112"/>
            <a:ext cx="4617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42B32"/>
                </a:solidFill>
                <a:latin typeface="Aptos"/>
              </a:rPr>
              <a:t>• Discussed the product and market with the founder
• Narrowed potential customers to 3 segments
• Defined an initial interview strategy around roles that use chemistry reactions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21608"/>
            <a:ext cx="5321808" cy="1993392"/>
          </a:xfrm>
          <a:prstGeom prst="roundRect">
            <a:avLst>
              <a:gd name="adj" fmla="val 12000"/>
            </a:avLst>
          </a:prstGeom>
          <a:solidFill>
            <a:srgbClr val="FAF0E1"/>
          </a:solidFill>
          <a:ln>
            <a:solidFill>
              <a:srgbClr val="FAF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721608"/>
            <a:ext cx="73152" cy="1993392"/>
          </a:xfrm>
          <a:prstGeom prst="rect">
            <a:avLst/>
          </a:prstGeom>
          <a:solidFill>
            <a:srgbClr val="DA8534"/>
          </a:solidFill>
          <a:ln>
            <a:solidFill>
              <a:srgbClr val="DA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41064"/>
            <a:ext cx="4480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DA8534"/>
                </a:solidFill>
                <a:latin typeface="Aptos"/>
              </a:rPr>
              <a:t>WHAT WE LEARNED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43400"/>
            <a:ext cx="4617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42B32"/>
                </a:solidFill>
                <a:latin typeface="Aptos"/>
              </a:rPr>
              <a:t>• No customer interviews yet — these are hypotheses, not validated findings
• Likely value drivers: time, characterization cost, scarce expertise
• Segment-specific workflows may determine the strongest use 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721608"/>
            <a:ext cx="5321808" cy="1993392"/>
          </a:xfrm>
          <a:prstGeom prst="roundRect">
            <a:avLst>
              <a:gd name="adj" fmla="val 12000"/>
            </a:avLst>
          </a:prstGeom>
          <a:solidFill>
            <a:srgbClr val="F9EAEA"/>
          </a:solidFill>
          <a:ln>
            <a:solidFill>
              <a:srgbClr val="F9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3721608"/>
            <a:ext cx="73152" cy="1993392"/>
          </a:xfrm>
          <a:prstGeom prst="rect">
            <a:avLst/>
          </a:prstGeom>
          <a:solidFill>
            <a:srgbClr val="B34949"/>
          </a:solidFill>
          <a:ln>
            <a:solidFill>
              <a:srgbClr val="B3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941064"/>
            <a:ext cx="4480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34949"/>
                </a:solidFill>
                <a:latin typeface="Aptos"/>
              </a:rPr>
              <a:t>WHAT WE'LL DO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343400"/>
            <a:ext cx="4617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242B32"/>
                </a:solidFill>
                <a:latin typeface="Aptos"/>
              </a:rPr>
              <a:t>• Conduct 5–10 interviews across the 3 segments
• Compare pain severity, current workflow, and alternatives
• Test willingness to pay / budget ownership
• Refine the target customer and first 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144768"/>
            <a:ext cx="1417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268B8E"/>
                </a:solidFill>
                <a:latin typeface="Aptos"/>
              </a:rPr>
              <a:t>Discovery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6108192"/>
            <a:ext cx="9144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42134"/>
                </a:solidFill>
                <a:latin typeface="Aptos"/>
              </a:rPr>
              <a:t>Do not sell DTCS in the interview—understand the customer's current process first.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47104"/>
            <a:ext cx="4023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6A7785"/>
                </a:solidFill>
                <a:latin typeface="Aptos"/>
              </a:rPr>
              <a:t>DTCS • Lean Transfer • Customer 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47104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A7785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6070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42134"/>
                </a:solidFill>
                <a:latin typeface="Aptos"/>
              </a:rPr>
              <a:t>Customer Discovery Plan — Next 6 Interviews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105156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A7785"/>
                </a:solidFill>
                <a:latin typeface="Aptos"/>
              </a:rPr>
              <a:t>Replace TBD fields with actual contacts before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93192"/>
            <a:ext cx="411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6A7785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325880"/>
            <a:ext cx="685800" cy="475488"/>
          </a:xfrm>
          <a:prstGeom prst="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3" y="1435607"/>
            <a:ext cx="5394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1325880"/>
            <a:ext cx="2743200" cy="475488"/>
          </a:xfrm>
          <a:prstGeom prst="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1435607"/>
            <a:ext cx="25968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Role / 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7912" y="1325880"/>
            <a:ext cx="1828800" cy="475488"/>
          </a:xfrm>
          <a:prstGeom prst="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41064" y="1435607"/>
            <a:ext cx="16824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Company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96712" y="1325880"/>
            <a:ext cx="1920240" cy="475488"/>
          </a:xfrm>
          <a:prstGeom prst="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9864" y="1435607"/>
            <a:ext cx="17739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Contact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6952" y="1325880"/>
            <a:ext cx="3931920" cy="475488"/>
          </a:xfrm>
          <a:prstGeom prst="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0104" y="1435607"/>
            <a:ext cx="3785615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Why them?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1801368"/>
            <a:ext cx="685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" y="1874519"/>
            <a:ext cx="521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1" i="0">
                <a:solidFill>
                  <a:srgbClr val="242B32"/>
                </a:solidFill>
                <a:latin typeface="Aptos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4712" y="1801368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1874519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Materials / Design Engineer
(polymer, coatings, adhesives)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67912" y="1801368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8" y="1874519"/>
            <a:ext cx="1664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0" i="0">
                <a:solidFill>
                  <a:srgbClr val="242B32"/>
                </a:solidFill>
                <a:latin typeface="Aptos"/>
              </a:rPr>
              <a:t>Big Tech / established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96712" y="1801368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8" y="1874519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Name: TBD
Email: TBD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16952" y="1801368"/>
            <a:ext cx="3931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874519"/>
            <a:ext cx="376732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Uses chemistry-driven materials; tests whether interpretation speed is a real bottleneck.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2459736"/>
            <a:ext cx="68580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2532888"/>
            <a:ext cx="521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1" i="0">
                <a:solidFill>
                  <a:srgbClr val="242B32"/>
                </a:solidFill>
                <a:latin typeface="Aptos"/>
              </a:rPr>
              <a:t>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24712" y="2459736"/>
            <a:ext cx="274320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2532888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Raw-Materials / Formulation R&amp;D
scientist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67912" y="2459736"/>
            <a:ext cx="182880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0208" y="2532888"/>
            <a:ext cx="1664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0" i="0">
                <a:solidFill>
                  <a:srgbClr val="242B32"/>
                </a:solidFill>
                <a:latin typeface="Aptos"/>
              </a:rPr>
              <a:t>Big Tech / established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96712" y="2459736"/>
            <a:ext cx="19202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9008" y="2532888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Name: TBD
Email: TBD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16952" y="2459736"/>
            <a:ext cx="393192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2532888"/>
            <a:ext cx="376732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Can compare current characterization workflow and decision criteria.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3118104"/>
            <a:ext cx="685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7" y="3191256"/>
            <a:ext cx="521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1" i="0">
                <a:solidFill>
                  <a:srgbClr val="242B32"/>
                </a:solidFill>
                <a:latin typeface="Aptos"/>
              </a:rPr>
              <a:t>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24712" y="3118104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7008" y="3191256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Chemistry / Materials Scientist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67912" y="3118104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0208" y="3191256"/>
            <a:ext cx="1664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0" i="0">
                <a:solidFill>
                  <a:srgbClr val="242B32"/>
                </a:solidFill>
                <a:latin typeface="Aptos"/>
              </a:rPr>
              <a:t>Early-stage startup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96712" y="3118104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79008" y="3191256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Name: TBD
Email: TBD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16952" y="3118104"/>
            <a:ext cx="3931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3191256"/>
            <a:ext cx="376732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Tests whether limited headcount creates a willingness-to-pay for automation.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" y="3776472"/>
            <a:ext cx="68580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7" y="3849624"/>
            <a:ext cx="521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1" i="0">
                <a:solidFill>
                  <a:srgbClr val="242B32"/>
                </a:solidFill>
                <a:latin typeface="Aptos"/>
              </a:rPr>
              <a:t>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24712" y="3776472"/>
            <a:ext cx="274320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8" y="3849624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Founder / CTO / Head of R&amp;D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67912" y="3776472"/>
            <a:ext cx="182880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50208" y="3849624"/>
            <a:ext cx="1664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0" i="0">
                <a:solidFill>
                  <a:srgbClr val="242B32"/>
                </a:solidFill>
                <a:latin typeface="Aptos"/>
              </a:rPr>
              <a:t>Early-stage startup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96712" y="3776472"/>
            <a:ext cx="19202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79008" y="3849624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Name: TBD
Email: TBD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16952" y="3776472"/>
            <a:ext cx="393192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99248" y="3849624"/>
            <a:ext cx="376732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Can validate budget ownership and urgency of experimental iteration.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" y="4434840"/>
            <a:ext cx="685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1207" y="4507992"/>
            <a:ext cx="521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1" i="0">
                <a:solidFill>
                  <a:srgbClr val="242B32"/>
                </a:solidFill>
                <a:latin typeface="Aptos"/>
              </a:rPr>
              <a:t>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4712" y="4434840"/>
            <a:ext cx="27432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07008" y="4507992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Technical / Application Engineer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67912" y="4434840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50208" y="4507992"/>
            <a:ext cx="1664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0" i="0">
                <a:solidFill>
                  <a:srgbClr val="242B32"/>
                </a:solidFill>
                <a:latin typeface="Aptos"/>
              </a:rPr>
              <a:t>Raw-material vendor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96712" y="4434840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79008" y="4507992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Name: TBD
Email: TBD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16952" y="4434840"/>
            <a:ext cx="3931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99248" y="4507992"/>
            <a:ext cx="376732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Tests whether mechanism + evidence could improve customer support or material adoption.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8912" y="5093207"/>
            <a:ext cx="68580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7" y="5166359"/>
            <a:ext cx="521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1" i="0">
                <a:solidFill>
                  <a:srgbClr val="242B32"/>
                </a:solidFill>
                <a:latin typeface="Aptos"/>
              </a:rPr>
              <a:t>06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24712" y="5093207"/>
            <a:ext cx="274320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7008" y="5166359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R&amp;D / Product Development Scientist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67912" y="5093207"/>
            <a:ext cx="182880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50208" y="5166359"/>
            <a:ext cx="166420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80" b="0" i="0">
                <a:solidFill>
                  <a:srgbClr val="242B32"/>
                </a:solidFill>
                <a:latin typeface="Aptos"/>
              </a:rPr>
              <a:t>Raw-material vendor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96712" y="5093207"/>
            <a:ext cx="19202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79008" y="5166359"/>
            <a:ext cx="175564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Name: TBD
Email: TBD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16952" y="5093207"/>
            <a:ext cx="3931920" cy="658368"/>
          </a:xfrm>
          <a:prstGeom prst="rect">
            <a:avLst/>
          </a:prstGeom>
          <a:solidFill>
            <a:srgbClr val="F2F6F9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99248" y="5166359"/>
            <a:ext cx="376732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80" b="0" i="0">
                <a:solidFill>
                  <a:srgbClr val="242B32"/>
                </a:solidFill>
                <a:latin typeface="Aptos"/>
              </a:rPr>
              <a:t>Explores vendor-side characterization needs and repeatable workflows.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5925312"/>
            <a:ext cx="1097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268B8E"/>
                </a:solidFill>
                <a:latin typeface="Aptos"/>
              </a:rPr>
              <a:t>JUSTIFICATION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54480" y="5879592"/>
            <a:ext cx="10012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142134"/>
                </a:solidFill>
                <a:latin typeface="Aptos"/>
              </a:rPr>
              <a:t>Six interviews intentionally span the 3 segments (2 each) so I can compare pain severity, workflow, and willingness to pay before narrowing the ICP.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6547104"/>
            <a:ext cx="4023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50" b="0" i="0">
                <a:solidFill>
                  <a:srgbClr val="6A7785"/>
                </a:solidFill>
                <a:latin typeface="Aptos"/>
              </a:rPr>
              <a:t>DTCS • Lean Transfer • Customer Discovery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18520" y="6547104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50" b="0" i="0">
                <a:solidFill>
                  <a:srgbClr val="6A7785"/>
                </a:solidFill>
                <a:latin typeface="Apto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